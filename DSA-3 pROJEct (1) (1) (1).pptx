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Gagalin" charset="1" panose="00000500000000000000"/>
      <p:regular r:id="rId14"/>
    </p:embeddedFont>
    <p:embeddedFont>
      <p:font typeface="Canva Sans Bold" charset="1" panose="020B0803030501040103"/>
      <p:regular r:id="rId15"/>
    </p:embeddedFont>
    <p:embeddedFont>
      <p:font typeface="Canva Sans" charset="1" panose="020B05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402607" y="2487240"/>
            <a:ext cx="11482787" cy="4553852"/>
          </a:xfrm>
          <a:prstGeom prst="rect">
            <a:avLst/>
          </a:prstGeom>
        </p:spPr>
        <p:txBody>
          <a:bodyPr anchor="t" rtlCol="false" tIns="0" lIns="0" bIns="0" rIns="0">
            <a:spAutoFit/>
          </a:bodyPr>
          <a:lstStyle/>
          <a:p>
            <a:pPr algn="ctr">
              <a:lnSpc>
                <a:spcPts val="17426"/>
              </a:lnSpc>
            </a:pPr>
            <a:r>
              <a:rPr lang="en-US" sz="17965">
                <a:solidFill>
                  <a:srgbClr val="464691"/>
                </a:solidFill>
                <a:latin typeface="Gagalin"/>
                <a:ea typeface="Gagalin"/>
                <a:cs typeface="Gagalin"/>
                <a:sym typeface="Gagalin"/>
              </a:rPr>
              <a:t>DSA-3</a:t>
            </a:r>
          </a:p>
          <a:p>
            <a:pPr algn="ctr">
              <a:lnSpc>
                <a:spcPts val="17426"/>
              </a:lnSpc>
            </a:pPr>
            <a:r>
              <a:rPr lang="en-US" sz="17965">
                <a:solidFill>
                  <a:srgbClr val="464691"/>
                </a:solidFill>
                <a:latin typeface="Gagalin"/>
                <a:ea typeface="Gagalin"/>
                <a:cs typeface="Gagalin"/>
                <a:sym typeface="Gagalin"/>
              </a:rPr>
              <a:t>pROJEct</a:t>
            </a:r>
          </a:p>
        </p:txBody>
      </p:sp>
      <p:sp>
        <p:nvSpPr>
          <p:cNvPr name="Freeform 3" id="3"/>
          <p:cNvSpPr/>
          <p:nvPr/>
        </p:nvSpPr>
        <p:spPr>
          <a:xfrm flipH="false" flipV="false" rot="0">
            <a:off x="12894417" y="6014076"/>
            <a:ext cx="6432344" cy="5157570"/>
          </a:xfrm>
          <a:custGeom>
            <a:avLst/>
            <a:gdLst/>
            <a:ahLst/>
            <a:cxnLst/>
            <a:rect r="r" b="b" t="t" l="l"/>
            <a:pathLst>
              <a:path h="5157570" w="6432344">
                <a:moveTo>
                  <a:pt x="0" y="0"/>
                </a:moveTo>
                <a:lnTo>
                  <a:pt x="6432344" y="0"/>
                </a:lnTo>
                <a:lnTo>
                  <a:pt x="6432344" y="5157571"/>
                </a:lnTo>
                <a:lnTo>
                  <a:pt x="0" y="51575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9609" y="7391931"/>
            <a:ext cx="6598076" cy="4114800"/>
          </a:xfrm>
          <a:custGeom>
            <a:avLst/>
            <a:gdLst/>
            <a:ahLst/>
            <a:cxnLst/>
            <a:rect r="r" b="b" t="t" l="l"/>
            <a:pathLst>
              <a:path h="4114800" w="6598076">
                <a:moveTo>
                  <a:pt x="0" y="0"/>
                </a:moveTo>
                <a:lnTo>
                  <a:pt x="6598076" y="0"/>
                </a:lnTo>
                <a:lnTo>
                  <a:pt x="65980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27053" y="0"/>
            <a:ext cx="6755642" cy="4114800"/>
          </a:xfrm>
          <a:custGeom>
            <a:avLst/>
            <a:gdLst/>
            <a:ahLst/>
            <a:cxnLst/>
            <a:rect r="r" b="b" t="t" l="l"/>
            <a:pathLst>
              <a:path h="4114800" w="6755642">
                <a:moveTo>
                  <a:pt x="0" y="0"/>
                </a:moveTo>
                <a:lnTo>
                  <a:pt x="6755641" y="0"/>
                </a:lnTo>
                <a:lnTo>
                  <a:pt x="67556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459442">
            <a:off x="-2758544" y="-900221"/>
            <a:ext cx="7574489" cy="4544693"/>
          </a:xfrm>
          <a:custGeom>
            <a:avLst/>
            <a:gdLst/>
            <a:ahLst/>
            <a:cxnLst/>
            <a:rect r="r" b="b" t="t" l="l"/>
            <a:pathLst>
              <a:path h="4544693" w="7574489">
                <a:moveTo>
                  <a:pt x="0" y="0"/>
                </a:moveTo>
                <a:lnTo>
                  <a:pt x="7574488" y="0"/>
                </a:lnTo>
                <a:lnTo>
                  <a:pt x="7574488" y="4544693"/>
                </a:lnTo>
                <a:lnTo>
                  <a:pt x="0" y="45446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762483" y="-1873145"/>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0">
              <a:alphaModFix amt="27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62483" y="7742321"/>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0">
              <a:alphaModFix amt="27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795681" y="4568903"/>
            <a:ext cx="2187497" cy="1642612"/>
          </a:xfrm>
          <a:custGeom>
            <a:avLst/>
            <a:gdLst/>
            <a:ahLst/>
            <a:cxnLst/>
            <a:rect r="r" b="b" t="t" l="l"/>
            <a:pathLst>
              <a:path h="1642612" w="2187497">
                <a:moveTo>
                  <a:pt x="0" y="0"/>
                </a:moveTo>
                <a:lnTo>
                  <a:pt x="2187497" y="0"/>
                </a:lnTo>
                <a:lnTo>
                  <a:pt x="2187497" y="1642612"/>
                </a:lnTo>
                <a:lnTo>
                  <a:pt x="0" y="1642612"/>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304493" y="4371465"/>
            <a:ext cx="2187497" cy="1642612"/>
          </a:xfrm>
          <a:custGeom>
            <a:avLst/>
            <a:gdLst/>
            <a:ahLst/>
            <a:cxnLst/>
            <a:rect r="r" b="b" t="t" l="l"/>
            <a:pathLst>
              <a:path h="1642612" w="2187497">
                <a:moveTo>
                  <a:pt x="0" y="0"/>
                </a:moveTo>
                <a:lnTo>
                  <a:pt x="2187498" y="0"/>
                </a:lnTo>
                <a:lnTo>
                  <a:pt x="2187498" y="1642611"/>
                </a:lnTo>
                <a:lnTo>
                  <a:pt x="0" y="1642611"/>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38424" y="6016339"/>
            <a:ext cx="5220222" cy="5229731"/>
          </a:xfrm>
          <a:custGeom>
            <a:avLst/>
            <a:gdLst/>
            <a:ahLst/>
            <a:cxnLst/>
            <a:rect r="r" b="b" t="t" l="l"/>
            <a:pathLst>
              <a:path h="5229731" w="5220222">
                <a:moveTo>
                  <a:pt x="0" y="0"/>
                </a:moveTo>
                <a:lnTo>
                  <a:pt x="5220222" y="0"/>
                </a:lnTo>
                <a:lnTo>
                  <a:pt x="5220222" y="5229731"/>
                </a:lnTo>
                <a:lnTo>
                  <a:pt x="0" y="5229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853933" y="8229600"/>
            <a:ext cx="6234545" cy="4114800"/>
          </a:xfrm>
          <a:custGeom>
            <a:avLst/>
            <a:gdLst/>
            <a:ahLst/>
            <a:cxnLst/>
            <a:rect r="r" b="b" t="t" l="l"/>
            <a:pathLst>
              <a:path h="4114800" w="6234545">
                <a:moveTo>
                  <a:pt x="0" y="0"/>
                </a:moveTo>
                <a:lnTo>
                  <a:pt x="6234545" y="0"/>
                </a:lnTo>
                <a:lnTo>
                  <a:pt x="6234545"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997738" y="1613628"/>
            <a:ext cx="6545941" cy="25717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Intelligent Student Record Search System.</a:t>
            </a:r>
          </a:p>
        </p:txBody>
      </p:sp>
      <p:sp>
        <p:nvSpPr>
          <p:cNvPr name="TextBox 8" id="8"/>
          <p:cNvSpPr txBox="true"/>
          <p:nvPr/>
        </p:nvSpPr>
        <p:spPr>
          <a:xfrm rot="0">
            <a:off x="3998347" y="5058552"/>
            <a:ext cx="11247257" cy="3070062"/>
          </a:xfrm>
          <a:prstGeom prst="rect">
            <a:avLst/>
          </a:prstGeom>
        </p:spPr>
        <p:txBody>
          <a:bodyPr anchor="t" rtlCol="false" tIns="0" lIns="0" bIns="0" rIns="0">
            <a:spAutoFit/>
          </a:bodyPr>
          <a:lstStyle/>
          <a:p>
            <a:pPr algn="ctr">
              <a:lnSpc>
                <a:spcPts val="6133"/>
              </a:lnSpc>
            </a:pPr>
            <a:r>
              <a:rPr lang="en-US" b="true" sz="4381" spc="48">
                <a:solidFill>
                  <a:srgbClr val="000000"/>
                </a:solidFill>
                <a:latin typeface="Canva Sans Bold"/>
                <a:ea typeface="Canva Sans Bold"/>
                <a:cs typeface="Canva Sans Bold"/>
                <a:sym typeface="Canva Sans Bold"/>
              </a:rPr>
              <a:t>TEAM MEMBERS:</a:t>
            </a:r>
            <a:r>
              <a:rPr lang="en-US" sz="4381" spc="48">
                <a:solidFill>
                  <a:srgbClr val="000000"/>
                </a:solidFill>
                <a:latin typeface="Canva Sans"/>
                <a:ea typeface="Canva Sans"/>
                <a:cs typeface="Canva Sans"/>
                <a:sym typeface="Canva Sans"/>
              </a:rPr>
              <a:t>           </a:t>
            </a:r>
          </a:p>
          <a:p>
            <a:pPr algn="ctr">
              <a:lnSpc>
                <a:spcPts val="6133"/>
              </a:lnSpc>
            </a:pPr>
            <a:r>
              <a:rPr lang="en-US" sz="4381" spc="48">
                <a:solidFill>
                  <a:srgbClr val="000000"/>
                </a:solidFill>
                <a:latin typeface="Canva Sans"/>
                <a:ea typeface="Canva Sans"/>
                <a:cs typeface="Canva Sans"/>
                <a:sym typeface="Canva Sans"/>
              </a:rPr>
              <a:t>2520030126-Siri           </a:t>
            </a:r>
          </a:p>
          <a:p>
            <a:pPr algn="ctr">
              <a:lnSpc>
                <a:spcPts val="6133"/>
              </a:lnSpc>
            </a:pPr>
            <a:r>
              <a:rPr lang="en-US" sz="4381" spc="48">
                <a:solidFill>
                  <a:srgbClr val="000000"/>
                </a:solidFill>
                <a:latin typeface="Canva Sans"/>
                <a:ea typeface="Canva Sans"/>
                <a:cs typeface="Canva Sans"/>
                <a:sym typeface="Canva Sans"/>
              </a:rPr>
              <a:t>2520030230-Hemanth</a:t>
            </a:r>
          </a:p>
          <a:p>
            <a:pPr algn="ctr">
              <a:lnSpc>
                <a:spcPts val="6133"/>
              </a:lnSpc>
            </a:pPr>
            <a:r>
              <a:rPr lang="en-US" sz="4381" spc="48">
                <a:solidFill>
                  <a:srgbClr val="000000"/>
                </a:solidFill>
                <a:latin typeface="Canva Sans"/>
                <a:ea typeface="Canva Sans"/>
                <a:cs typeface="Canva Sans"/>
                <a:sym typeface="Canva Sans"/>
              </a:rPr>
              <a:t>2520030091-Rupesh   </a:t>
            </a:r>
          </a:p>
        </p:txBody>
      </p:sp>
      <p:sp>
        <p:nvSpPr>
          <p:cNvPr name="Freeform 9" id="9"/>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1171575"/>
            <a:ext cx="6545941" cy="17335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Project ABSTRACT</a:t>
            </a:r>
          </a:p>
        </p:txBody>
      </p:sp>
      <p:sp>
        <p:nvSpPr>
          <p:cNvPr name="TextBox 3" id="3"/>
          <p:cNvSpPr txBox="true"/>
          <p:nvPr/>
        </p:nvSpPr>
        <p:spPr>
          <a:xfrm rot="0">
            <a:off x="3785617" y="3527444"/>
            <a:ext cx="10716766" cy="5207465"/>
          </a:xfrm>
          <a:prstGeom prst="rect">
            <a:avLst/>
          </a:prstGeom>
        </p:spPr>
        <p:txBody>
          <a:bodyPr anchor="t" rtlCol="false" tIns="0" lIns="0" bIns="0" rIns="0">
            <a:spAutoFit/>
          </a:bodyPr>
          <a:lstStyle/>
          <a:p>
            <a:pPr algn="l">
              <a:lnSpc>
                <a:spcPts val="3509"/>
              </a:lnSpc>
            </a:pPr>
            <a:r>
              <a:rPr lang="en-US" sz="2506" spc="27">
                <a:solidFill>
                  <a:srgbClr val="000000"/>
                </a:solidFill>
                <a:latin typeface="Canva Sans"/>
                <a:ea typeface="Canva Sans"/>
                <a:cs typeface="Canva Sans"/>
                <a:sym typeface="Canva Sans"/>
              </a:rPr>
              <a:t>Educati</a:t>
            </a:r>
            <a:r>
              <a:rPr lang="en-US" sz="2506" spc="27">
                <a:solidFill>
                  <a:srgbClr val="000000"/>
                </a:solidFill>
                <a:latin typeface="Canva Sans"/>
                <a:ea typeface="Canva Sans"/>
                <a:cs typeface="Canva Sans"/>
                <a:sym typeface="Canva Sans"/>
              </a:rPr>
              <a:t>onal institutions manage thousands of student records containing names, roll numbers, departments, courses, marks, attendance, achievements, and project details. As the database grows, manually searching for records becomes slow and inefficient.</a:t>
            </a:r>
          </a:p>
          <a:p>
            <a:pPr algn="l">
              <a:lnSpc>
                <a:spcPts val="3509"/>
              </a:lnSpc>
            </a:pPr>
            <a:r>
              <a:rPr lang="en-US" sz="2506" spc="27">
                <a:solidFill>
                  <a:srgbClr val="000000"/>
                </a:solidFill>
                <a:latin typeface="Canva Sans"/>
                <a:ea typeface="Canva Sans"/>
                <a:cs typeface="Canva Sans"/>
                <a:sym typeface="Canva Sans"/>
              </a:rPr>
              <a:t>The Intelligent Student Record Search System provides an efficient repository for storing and retrieving student information. Initially, it supports record management and keyword-based searching. By applying concepts from Advanced Data Structures and Algorithms, the system can be extended with fuzzy search, similarity matching, indexing, ranking, and auto-complete, enabling faster and more accurate search results.</a:t>
            </a:r>
          </a:p>
          <a:p>
            <a:pPr algn="l">
              <a:lnSpc>
                <a:spcPts val="3089"/>
              </a:lnSpc>
            </a:pPr>
          </a:p>
        </p:txBody>
      </p:sp>
      <p:sp>
        <p:nvSpPr>
          <p:cNvPr name="Freeform 4" id="4"/>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62069" y="6643435"/>
            <a:ext cx="5220222" cy="5229731"/>
          </a:xfrm>
          <a:custGeom>
            <a:avLst/>
            <a:gdLst/>
            <a:ahLst/>
            <a:cxnLst/>
            <a:rect r="r" b="b" t="t" l="l"/>
            <a:pathLst>
              <a:path h="5229731" w="5220222">
                <a:moveTo>
                  <a:pt x="0" y="0"/>
                </a:moveTo>
                <a:lnTo>
                  <a:pt x="5220223" y="0"/>
                </a:lnTo>
                <a:lnTo>
                  <a:pt x="5220223" y="5229730"/>
                </a:lnTo>
                <a:lnTo>
                  <a:pt x="0" y="5229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70687" y="9084064"/>
            <a:ext cx="6234545" cy="4114800"/>
          </a:xfrm>
          <a:custGeom>
            <a:avLst/>
            <a:gdLst/>
            <a:ahLst/>
            <a:cxnLst/>
            <a:rect r="r" b="b" t="t" l="l"/>
            <a:pathLst>
              <a:path h="4114800" w="6234545">
                <a:moveTo>
                  <a:pt x="0" y="0"/>
                </a:moveTo>
                <a:lnTo>
                  <a:pt x="6234546" y="0"/>
                </a:lnTo>
                <a:lnTo>
                  <a:pt x="6234546"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762858"/>
            <a:ext cx="6545941" cy="17335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Problem Statement</a:t>
            </a:r>
          </a:p>
        </p:txBody>
      </p:sp>
      <p:sp>
        <p:nvSpPr>
          <p:cNvPr name="Freeform 3" id="3"/>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262069" y="6643435"/>
            <a:ext cx="5220222" cy="5229731"/>
          </a:xfrm>
          <a:custGeom>
            <a:avLst/>
            <a:gdLst/>
            <a:ahLst/>
            <a:cxnLst/>
            <a:rect r="r" b="b" t="t" l="l"/>
            <a:pathLst>
              <a:path h="5229731" w="5220222">
                <a:moveTo>
                  <a:pt x="0" y="0"/>
                </a:moveTo>
                <a:lnTo>
                  <a:pt x="5220223" y="0"/>
                </a:lnTo>
                <a:lnTo>
                  <a:pt x="5220223" y="5229730"/>
                </a:lnTo>
                <a:lnTo>
                  <a:pt x="0" y="5229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870687" y="9084064"/>
            <a:ext cx="6234545" cy="4114800"/>
          </a:xfrm>
          <a:custGeom>
            <a:avLst/>
            <a:gdLst/>
            <a:ahLst/>
            <a:cxnLst/>
            <a:rect r="r" b="b" t="t" l="l"/>
            <a:pathLst>
              <a:path h="4114800" w="6234545">
                <a:moveTo>
                  <a:pt x="0" y="0"/>
                </a:moveTo>
                <a:lnTo>
                  <a:pt x="6234546" y="0"/>
                </a:lnTo>
                <a:lnTo>
                  <a:pt x="6234546"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5243762" y="3197340"/>
            <a:ext cx="7800476" cy="5844370"/>
          </a:xfrm>
          <a:prstGeom prst="rect">
            <a:avLst/>
          </a:prstGeom>
        </p:spPr>
        <p:txBody>
          <a:bodyPr anchor="t" rtlCol="false" tIns="0" lIns="0" bIns="0" rIns="0">
            <a:spAutoFit/>
          </a:bodyPr>
          <a:lstStyle/>
          <a:p>
            <a:pPr algn="l">
              <a:lnSpc>
                <a:spcPts val="3369"/>
              </a:lnSpc>
            </a:pPr>
            <a:r>
              <a:rPr lang="en-US" sz="2406" spc="26" b="true">
                <a:solidFill>
                  <a:srgbClr val="000000"/>
                </a:solidFill>
                <a:latin typeface="Canva Sans Bold"/>
                <a:ea typeface="Canva Sans Bold"/>
                <a:cs typeface="Canva Sans Bold"/>
                <a:sym typeface="Canva Sans Bold"/>
              </a:rPr>
              <a:t>Existing Pr</a:t>
            </a:r>
            <a:r>
              <a:rPr lang="en-US" sz="2406" spc="26" b="true">
                <a:solidFill>
                  <a:srgbClr val="000000"/>
                </a:solidFill>
                <a:latin typeface="Canva Sans Bold"/>
                <a:ea typeface="Canva Sans Bold"/>
                <a:cs typeface="Canva Sans Bold"/>
                <a:sym typeface="Canva Sans Bold"/>
              </a:rPr>
              <a:t>oblems</a:t>
            </a:r>
          </a:p>
          <a:p>
            <a:pPr algn="l" marL="519601" indent="-259801" lvl="1">
              <a:lnSpc>
                <a:spcPts val="3369"/>
              </a:lnSpc>
              <a:buFont typeface="Arial"/>
              <a:buChar char="•"/>
            </a:pPr>
            <a:r>
              <a:rPr lang="en-US" sz="2406" spc="26">
                <a:solidFill>
                  <a:srgbClr val="000000"/>
                </a:solidFill>
                <a:latin typeface="Canva Sans"/>
                <a:ea typeface="Canva Sans"/>
                <a:cs typeface="Canva Sans"/>
                <a:sym typeface="Canva Sans"/>
              </a:rPr>
              <a:t>Manual searching is time-consuming. </a:t>
            </a:r>
          </a:p>
          <a:p>
            <a:pPr algn="l" marL="519601" indent="-259801" lvl="1">
              <a:lnSpc>
                <a:spcPts val="3369"/>
              </a:lnSpc>
              <a:buFont typeface="Arial"/>
              <a:buChar char="•"/>
            </a:pPr>
            <a:r>
              <a:rPr lang="en-US" sz="2406" spc="26">
                <a:solidFill>
                  <a:srgbClr val="000000"/>
                </a:solidFill>
                <a:latin typeface="Canva Sans"/>
                <a:ea typeface="Canva Sans"/>
                <a:cs typeface="Canva Sans"/>
                <a:sym typeface="Canva Sans"/>
              </a:rPr>
              <a:t>Large datasets reduce search efficiency. </a:t>
            </a:r>
          </a:p>
          <a:p>
            <a:pPr algn="l" marL="519601" indent="-259801" lvl="1">
              <a:lnSpc>
                <a:spcPts val="3369"/>
              </a:lnSpc>
              <a:buFont typeface="Arial"/>
              <a:buChar char="•"/>
            </a:pPr>
            <a:r>
              <a:rPr lang="en-US" sz="2406" spc="26">
                <a:solidFill>
                  <a:srgbClr val="000000"/>
                </a:solidFill>
                <a:latin typeface="Canva Sans"/>
                <a:ea typeface="Canva Sans"/>
                <a:cs typeface="Canva Sans"/>
                <a:sym typeface="Canva Sans"/>
              </a:rPr>
              <a:t>Exact keyword searches may fail when spelling errors occur. </a:t>
            </a:r>
          </a:p>
          <a:p>
            <a:pPr algn="l" marL="519601" indent="-259801" lvl="1">
              <a:lnSpc>
                <a:spcPts val="3369"/>
              </a:lnSpc>
              <a:buFont typeface="Arial"/>
              <a:buChar char="•"/>
            </a:pPr>
            <a:r>
              <a:rPr lang="en-US" sz="2406" spc="26">
                <a:solidFill>
                  <a:srgbClr val="000000"/>
                </a:solidFill>
                <a:latin typeface="Canva Sans"/>
                <a:ea typeface="Canva Sans"/>
                <a:cs typeface="Canva Sans"/>
                <a:sym typeface="Canva Sans"/>
              </a:rPr>
              <a:t>Difficulty in finding similar student records. </a:t>
            </a:r>
          </a:p>
          <a:p>
            <a:pPr algn="l" marL="519601" indent="-259801" lvl="1">
              <a:lnSpc>
                <a:spcPts val="3369"/>
              </a:lnSpc>
              <a:buFont typeface="Arial"/>
              <a:buChar char="•"/>
            </a:pPr>
            <a:r>
              <a:rPr lang="en-US" sz="2406" spc="26">
                <a:solidFill>
                  <a:srgbClr val="000000"/>
                </a:solidFill>
                <a:latin typeface="Canva Sans"/>
                <a:ea typeface="Canva Sans"/>
                <a:cs typeface="Canva Sans"/>
                <a:sym typeface="Canva Sans"/>
              </a:rPr>
              <a:t>Traditional searching cannot provide intelligent suggestions or ranking. </a:t>
            </a:r>
          </a:p>
          <a:p>
            <a:pPr algn="l">
              <a:lnSpc>
                <a:spcPts val="3369"/>
              </a:lnSpc>
            </a:pPr>
          </a:p>
          <a:p>
            <a:pPr algn="l">
              <a:lnSpc>
                <a:spcPts val="3369"/>
              </a:lnSpc>
            </a:pPr>
            <a:r>
              <a:rPr lang="en-US" sz="2406" spc="26" b="true">
                <a:solidFill>
                  <a:srgbClr val="000000"/>
                </a:solidFill>
                <a:latin typeface="Canva Sans Bold"/>
                <a:ea typeface="Canva Sans Bold"/>
                <a:cs typeface="Canva Sans Bold"/>
                <a:sym typeface="Canva Sans Bold"/>
              </a:rPr>
              <a:t>Need for the System</a:t>
            </a:r>
          </a:p>
          <a:p>
            <a:pPr algn="l">
              <a:lnSpc>
                <a:spcPts val="3369"/>
              </a:lnSpc>
            </a:pPr>
            <a:r>
              <a:rPr lang="en-US" sz="2406" spc="26">
                <a:solidFill>
                  <a:srgbClr val="000000"/>
                </a:solidFill>
                <a:latin typeface="Canva Sans"/>
                <a:ea typeface="Canva Sans"/>
                <a:cs typeface="Canva Sans"/>
                <a:sym typeface="Canva Sans"/>
              </a:rPr>
              <a:t>Develop a smart record management system that applies advanced algorithmic techniques to improve search speed, accuracy, and scalability.</a:t>
            </a:r>
          </a:p>
          <a:p>
            <a:pPr algn="l">
              <a:lnSpc>
                <a:spcPts val="336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3885241" y="1175559"/>
            <a:ext cx="10517519" cy="8953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proposed functionalities</a:t>
            </a:r>
          </a:p>
        </p:txBody>
      </p:sp>
      <p:sp>
        <p:nvSpPr>
          <p:cNvPr name="TextBox 3" id="3"/>
          <p:cNvSpPr txBox="true"/>
          <p:nvPr/>
        </p:nvSpPr>
        <p:spPr>
          <a:xfrm rot="0">
            <a:off x="3993225" y="2379735"/>
            <a:ext cx="9704386" cy="7014675"/>
          </a:xfrm>
          <a:prstGeom prst="rect">
            <a:avLst/>
          </a:prstGeom>
        </p:spPr>
        <p:txBody>
          <a:bodyPr anchor="t" rtlCol="false" tIns="0" lIns="0" bIns="0" rIns="0">
            <a:spAutoFit/>
          </a:bodyPr>
          <a:lstStyle/>
          <a:p>
            <a:pPr algn="l">
              <a:lnSpc>
                <a:spcPts val="3789"/>
              </a:lnSpc>
            </a:pPr>
            <a:r>
              <a:rPr lang="en-US" sz="2706" spc="29" b="true">
                <a:solidFill>
                  <a:srgbClr val="000000"/>
                </a:solidFill>
                <a:latin typeface="Canva Sans Bold"/>
                <a:ea typeface="Canva Sans Bold"/>
                <a:cs typeface="Canva Sans Bold"/>
                <a:sym typeface="Canva Sans Bold"/>
              </a:rPr>
              <a:t>Basic Featu</a:t>
            </a:r>
            <a:r>
              <a:rPr lang="en-US" sz="2706" spc="29" b="true">
                <a:solidFill>
                  <a:srgbClr val="000000"/>
                </a:solidFill>
                <a:latin typeface="Canva Sans Bold"/>
                <a:ea typeface="Canva Sans Bold"/>
                <a:cs typeface="Canva Sans Bold"/>
                <a:sym typeface="Canva Sans Bold"/>
              </a:rPr>
              <a:t>res</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Add, update, and delete student records.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Store student information in a repository.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Search records using Roll Number, Name, Department, or Course.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Keyword-based search.</a:t>
            </a:r>
          </a:p>
          <a:p>
            <a:pPr algn="l">
              <a:lnSpc>
                <a:spcPts val="3089"/>
              </a:lnSpc>
            </a:pPr>
            <a:r>
              <a:rPr lang="en-US" sz="2206" spc="24">
                <a:solidFill>
                  <a:srgbClr val="000000"/>
                </a:solidFill>
                <a:latin typeface="Canva Sans"/>
                <a:ea typeface="Canva Sans"/>
                <a:cs typeface="Canva Sans"/>
                <a:sym typeface="Canva Sans"/>
              </a:rPr>
              <a:t> </a:t>
            </a:r>
          </a:p>
          <a:p>
            <a:pPr algn="l">
              <a:lnSpc>
                <a:spcPts val="3509"/>
              </a:lnSpc>
            </a:pPr>
            <a:r>
              <a:rPr lang="en-US" sz="2506" spc="27" b="true">
                <a:solidFill>
                  <a:srgbClr val="000000"/>
                </a:solidFill>
                <a:latin typeface="Canva Sans Bold"/>
                <a:ea typeface="Canva Sans Bold"/>
                <a:cs typeface="Canva Sans Bold"/>
                <a:sym typeface="Canva Sans Bold"/>
              </a:rPr>
              <a:t>Advanced DSA Features (Module-1 Concepts)</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Pattern Search – Fast keyword searching using string algorithms.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Fuzzy Search – Find records despite spelling mistakes using edit distance.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Similarity Matching – Identify similar student records.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Indexing – Faster retrieval of records.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Ranking – Display the most relevant search results first. </a:t>
            </a:r>
          </a:p>
          <a:p>
            <a:pPr algn="l" marL="498012" indent="-249006" lvl="1">
              <a:lnSpc>
                <a:spcPts val="3229"/>
              </a:lnSpc>
              <a:buFont typeface="Arial"/>
              <a:buChar char="•"/>
            </a:pPr>
            <a:r>
              <a:rPr lang="en-US" sz="2306" spc="25">
                <a:solidFill>
                  <a:srgbClr val="000000"/>
                </a:solidFill>
                <a:latin typeface="Canva Sans"/>
                <a:ea typeface="Canva Sans"/>
                <a:cs typeface="Canva Sans"/>
                <a:sym typeface="Canva Sans"/>
              </a:rPr>
              <a:t>Auto-complete – Suggest names or roll numbers while typing. </a:t>
            </a:r>
          </a:p>
          <a:p>
            <a:pPr algn="l">
              <a:lnSpc>
                <a:spcPts val="3089"/>
              </a:lnSpc>
            </a:pPr>
          </a:p>
        </p:txBody>
      </p:sp>
      <p:sp>
        <p:nvSpPr>
          <p:cNvPr name="Freeform 4" id="4"/>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62069" y="6643435"/>
            <a:ext cx="5220222" cy="5229731"/>
          </a:xfrm>
          <a:custGeom>
            <a:avLst/>
            <a:gdLst/>
            <a:ahLst/>
            <a:cxnLst/>
            <a:rect r="r" b="b" t="t" l="l"/>
            <a:pathLst>
              <a:path h="5229731" w="5220222">
                <a:moveTo>
                  <a:pt x="0" y="0"/>
                </a:moveTo>
                <a:lnTo>
                  <a:pt x="5220223" y="0"/>
                </a:lnTo>
                <a:lnTo>
                  <a:pt x="5220223" y="5229730"/>
                </a:lnTo>
                <a:lnTo>
                  <a:pt x="0" y="5229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70687" y="9084064"/>
            <a:ext cx="6234545" cy="4114800"/>
          </a:xfrm>
          <a:custGeom>
            <a:avLst/>
            <a:gdLst/>
            <a:ahLst/>
            <a:cxnLst/>
            <a:rect r="r" b="b" t="t" l="l"/>
            <a:pathLst>
              <a:path h="4114800" w="6234545">
                <a:moveTo>
                  <a:pt x="0" y="0"/>
                </a:moveTo>
                <a:lnTo>
                  <a:pt x="6234546" y="0"/>
                </a:lnTo>
                <a:lnTo>
                  <a:pt x="6234546"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871030" y="337359"/>
            <a:ext cx="6545941" cy="17335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tools &amp; technologies</a:t>
            </a:r>
          </a:p>
        </p:txBody>
      </p:sp>
      <p:sp>
        <p:nvSpPr>
          <p:cNvPr name="TextBox 3" id="3"/>
          <p:cNvSpPr txBox="true"/>
          <p:nvPr/>
        </p:nvSpPr>
        <p:spPr>
          <a:xfrm rot="0">
            <a:off x="5107303" y="2183881"/>
            <a:ext cx="10854851" cy="7607765"/>
          </a:xfrm>
          <a:prstGeom prst="rect">
            <a:avLst/>
          </a:prstGeom>
        </p:spPr>
        <p:txBody>
          <a:bodyPr anchor="t" rtlCol="false" tIns="0" lIns="0" bIns="0" rIns="0">
            <a:spAutoFit/>
          </a:bodyPr>
          <a:lstStyle/>
          <a:p>
            <a:pPr algn="l" marL="541191" indent="-270595" lvl="1">
              <a:lnSpc>
                <a:spcPts val="3509"/>
              </a:lnSpc>
              <a:buFont typeface="Arial"/>
              <a:buChar char="•"/>
            </a:pPr>
            <a:r>
              <a:rPr lang="en-US" b="true" sz="2506" spc="27">
                <a:solidFill>
                  <a:srgbClr val="000000"/>
                </a:solidFill>
                <a:latin typeface="Canva Sans Bold"/>
                <a:ea typeface="Canva Sans Bold"/>
                <a:cs typeface="Canva Sans Bold"/>
                <a:sym typeface="Canva Sans Bold"/>
              </a:rPr>
              <a:t>Pr</a:t>
            </a:r>
            <a:r>
              <a:rPr lang="en-US" b="true" sz="2506" spc="27">
                <a:solidFill>
                  <a:srgbClr val="000000"/>
                </a:solidFill>
                <a:latin typeface="Canva Sans Bold"/>
                <a:ea typeface="Canva Sans Bold"/>
                <a:cs typeface="Canva Sans Bold"/>
                <a:sym typeface="Canva Sans Bold"/>
              </a:rPr>
              <a:t>ogramming Language</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Java </a:t>
            </a:r>
          </a:p>
          <a:p>
            <a:pPr algn="l">
              <a:lnSpc>
                <a:spcPts val="3089"/>
              </a:lnSpc>
            </a:pPr>
          </a:p>
          <a:p>
            <a:pPr algn="l" marL="541191" indent="-270595" lvl="1">
              <a:lnSpc>
                <a:spcPts val="3509"/>
              </a:lnSpc>
              <a:buFont typeface="Arial"/>
              <a:buChar char="•"/>
            </a:pPr>
            <a:r>
              <a:rPr lang="en-US" b="true" sz="2506" spc="27">
                <a:solidFill>
                  <a:srgbClr val="000000"/>
                </a:solidFill>
                <a:latin typeface="Canva Sans Bold"/>
                <a:ea typeface="Canva Sans Bold"/>
                <a:cs typeface="Canva Sans Bold"/>
                <a:sym typeface="Canva Sans Bold"/>
              </a:rPr>
              <a:t>Data Structures &amp; Algorithms</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Arrays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Linked Lists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Hash Tables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Trees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String Algorithms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Dynamic Programming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Indexing Techniques </a:t>
            </a:r>
          </a:p>
          <a:p>
            <a:pPr algn="l">
              <a:lnSpc>
                <a:spcPts val="3089"/>
              </a:lnSpc>
            </a:pPr>
          </a:p>
          <a:p>
            <a:pPr algn="l" marL="541191" indent="-270595" lvl="1">
              <a:lnSpc>
                <a:spcPts val="3509"/>
              </a:lnSpc>
              <a:buFont typeface="Arial"/>
              <a:buChar char="•"/>
            </a:pPr>
            <a:r>
              <a:rPr lang="en-US" b="true" sz="2506" spc="27">
                <a:solidFill>
                  <a:srgbClr val="000000"/>
                </a:solidFill>
                <a:latin typeface="Canva Sans Bold"/>
                <a:ea typeface="Canva Sans Bold"/>
                <a:cs typeface="Canva Sans Bold"/>
                <a:sym typeface="Canva Sans Bold"/>
              </a:rPr>
              <a:t>Database</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MySQL / SQLite </a:t>
            </a:r>
          </a:p>
          <a:p>
            <a:pPr algn="l">
              <a:lnSpc>
                <a:spcPts val="3089"/>
              </a:lnSpc>
            </a:pPr>
          </a:p>
          <a:p>
            <a:pPr algn="l" marL="541191" indent="-270595" lvl="1">
              <a:lnSpc>
                <a:spcPts val="3509"/>
              </a:lnSpc>
              <a:buFont typeface="Arial"/>
              <a:buChar char="•"/>
            </a:pPr>
            <a:r>
              <a:rPr lang="en-US" b="true" sz="2506" spc="27">
                <a:solidFill>
                  <a:srgbClr val="000000"/>
                </a:solidFill>
                <a:latin typeface="Canva Sans Bold"/>
                <a:ea typeface="Canva Sans Bold"/>
                <a:cs typeface="Canva Sans Bold"/>
                <a:sym typeface="Canva Sans Bold"/>
              </a:rPr>
              <a:t>Development Tools</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Visual Studio Code / IntelliJ IDEA </a:t>
            </a:r>
          </a:p>
          <a:p>
            <a:pPr algn="l" marL="476422" indent="-238211" lvl="1">
              <a:lnSpc>
                <a:spcPts val="3089"/>
              </a:lnSpc>
              <a:buFont typeface="Arial"/>
              <a:buChar char="•"/>
            </a:pPr>
            <a:r>
              <a:rPr lang="en-US" sz="2206" spc="24">
                <a:solidFill>
                  <a:srgbClr val="000000"/>
                </a:solidFill>
                <a:latin typeface="Canva Sans"/>
                <a:ea typeface="Canva Sans"/>
                <a:cs typeface="Canva Sans"/>
                <a:sym typeface="Canva Sans"/>
              </a:rPr>
              <a:t>Git &amp; GitHub </a:t>
            </a:r>
          </a:p>
          <a:p>
            <a:pPr algn="l">
              <a:lnSpc>
                <a:spcPts val="3089"/>
              </a:lnSpc>
            </a:pPr>
          </a:p>
        </p:txBody>
      </p:sp>
      <p:sp>
        <p:nvSpPr>
          <p:cNvPr name="Freeform 4" id="4"/>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62069" y="6643435"/>
            <a:ext cx="5220222" cy="5229731"/>
          </a:xfrm>
          <a:custGeom>
            <a:avLst/>
            <a:gdLst/>
            <a:ahLst/>
            <a:cxnLst/>
            <a:rect r="r" b="b" t="t" l="l"/>
            <a:pathLst>
              <a:path h="5229731" w="5220222">
                <a:moveTo>
                  <a:pt x="0" y="0"/>
                </a:moveTo>
                <a:lnTo>
                  <a:pt x="5220223" y="0"/>
                </a:lnTo>
                <a:lnTo>
                  <a:pt x="5220223" y="5229730"/>
                </a:lnTo>
                <a:lnTo>
                  <a:pt x="0" y="5229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70687" y="9084064"/>
            <a:ext cx="6234545" cy="4114800"/>
          </a:xfrm>
          <a:custGeom>
            <a:avLst/>
            <a:gdLst/>
            <a:ahLst/>
            <a:cxnLst/>
            <a:rect r="r" b="b" t="t" l="l"/>
            <a:pathLst>
              <a:path h="4114800" w="6234545">
                <a:moveTo>
                  <a:pt x="0" y="0"/>
                </a:moveTo>
                <a:lnTo>
                  <a:pt x="6234546" y="0"/>
                </a:lnTo>
                <a:lnTo>
                  <a:pt x="6234546"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6282485" y="1106215"/>
            <a:ext cx="6545941" cy="1733524"/>
          </a:xfrm>
          <a:prstGeom prst="rect">
            <a:avLst/>
          </a:prstGeom>
        </p:spPr>
        <p:txBody>
          <a:bodyPr anchor="t" rtlCol="false" tIns="0" lIns="0" bIns="0" rIns="0">
            <a:spAutoFit/>
          </a:bodyPr>
          <a:lstStyle/>
          <a:p>
            <a:pPr algn="ctr">
              <a:lnSpc>
                <a:spcPts val="6641"/>
              </a:lnSpc>
            </a:pPr>
            <a:r>
              <a:rPr lang="en-US" sz="6846">
                <a:solidFill>
                  <a:srgbClr val="464691"/>
                </a:solidFill>
                <a:latin typeface="Gagalin"/>
                <a:ea typeface="Gagalin"/>
                <a:cs typeface="Gagalin"/>
                <a:sym typeface="Gagalin"/>
              </a:rPr>
              <a:t>expected outcome.</a:t>
            </a:r>
          </a:p>
        </p:txBody>
      </p:sp>
      <p:sp>
        <p:nvSpPr>
          <p:cNvPr name="TextBox 3" id="3"/>
          <p:cNvSpPr txBox="true"/>
          <p:nvPr/>
        </p:nvSpPr>
        <p:spPr>
          <a:xfrm rot="0">
            <a:off x="4144823" y="3639692"/>
            <a:ext cx="10821265" cy="4982970"/>
          </a:xfrm>
          <a:prstGeom prst="rect">
            <a:avLst/>
          </a:prstGeom>
        </p:spPr>
        <p:txBody>
          <a:bodyPr anchor="t" rtlCol="false" tIns="0" lIns="0" bIns="0" rIns="0">
            <a:spAutoFit/>
          </a:bodyPr>
          <a:lstStyle/>
          <a:p>
            <a:pPr algn="l">
              <a:lnSpc>
                <a:spcPts val="3806"/>
              </a:lnSpc>
            </a:pPr>
            <a:r>
              <a:rPr lang="en-US" sz="2719" spc="29">
                <a:solidFill>
                  <a:srgbClr val="000000"/>
                </a:solidFill>
                <a:latin typeface="Canva Sans"/>
                <a:ea typeface="Canva Sans"/>
                <a:cs typeface="Canva Sans"/>
                <a:sym typeface="Canva Sans"/>
              </a:rPr>
              <a:t>After c</a:t>
            </a:r>
            <a:r>
              <a:rPr lang="en-US" sz="2719" spc="29">
                <a:solidFill>
                  <a:srgbClr val="000000"/>
                </a:solidFill>
                <a:latin typeface="Canva Sans"/>
                <a:ea typeface="Canva Sans"/>
                <a:cs typeface="Canva Sans"/>
                <a:sym typeface="Canva Sans"/>
              </a:rPr>
              <a:t>ompleting the project, the system will:</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Store and manage student records efficiently. </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Provide fast keyword-based searching. </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Improve search accuracy using fuzzy search and similarity matching. </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Reduce manual effort in retrieving student information. </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Demonstrate the practical use of advanced DSA concepts such as string algorithms, dynamic programming, and indexing. </a:t>
            </a:r>
          </a:p>
          <a:p>
            <a:pPr algn="l" marL="563669" indent="-281835" lvl="1">
              <a:lnSpc>
                <a:spcPts val="3655"/>
              </a:lnSpc>
              <a:buFont typeface="Arial"/>
              <a:buChar char="•"/>
            </a:pPr>
            <a:r>
              <a:rPr lang="en-US" sz="2610" spc="28">
                <a:solidFill>
                  <a:srgbClr val="000000"/>
                </a:solidFill>
                <a:latin typeface="Canva Sans"/>
                <a:ea typeface="Canva Sans"/>
                <a:cs typeface="Canva Sans"/>
                <a:sym typeface="Canva Sans"/>
              </a:rPr>
              <a:t>Provide a scalable foundation for future intelligent search systems with ranking and auto-complete features. </a:t>
            </a:r>
          </a:p>
          <a:p>
            <a:pPr algn="l">
              <a:lnSpc>
                <a:spcPts val="3351"/>
              </a:lnSpc>
            </a:pPr>
          </a:p>
        </p:txBody>
      </p:sp>
      <p:sp>
        <p:nvSpPr>
          <p:cNvPr name="Freeform 4" id="4"/>
          <p:cNvSpPr/>
          <p:nvPr/>
        </p:nvSpPr>
        <p:spPr>
          <a:xfrm flipH="false" flipV="false" rot="0">
            <a:off x="14732682" y="6514051"/>
            <a:ext cx="4448098" cy="4732019"/>
          </a:xfrm>
          <a:custGeom>
            <a:avLst/>
            <a:gdLst/>
            <a:ahLst/>
            <a:cxnLst/>
            <a:rect r="r" b="b" t="t" l="l"/>
            <a:pathLst>
              <a:path h="4732019" w="4448098">
                <a:moveTo>
                  <a:pt x="0" y="0"/>
                </a:moveTo>
                <a:lnTo>
                  <a:pt x="4448098" y="0"/>
                </a:lnTo>
                <a:lnTo>
                  <a:pt x="4448098" y="4732019"/>
                </a:lnTo>
                <a:lnTo>
                  <a:pt x="0" y="4732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262069" y="6643435"/>
            <a:ext cx="5220222" cy="5229731"/>
          </a:xfrm>
          <a:custGeom>
            <a:avLst/>
            <a:gdLst/>
            <a:ahLst/>
            <a:cxnLst/>
            <a:rect r="r" b="b" t="t" l="l"/>
            <a:pathLst>
              <a:path h="5229731" w="5220222">
                <a:moveTo>
                  <a:pt x="0" y="0"/>
                </a:moveTo>
                <a:lnTo>
                  <a:pt x="5220223" y="0"/>
                </a:lnTo>
                <a:lnTo>
                  <a:pt x="5220223" y="5229730"/>
                </a:lnTo>
                <a:lnTo>
                  <a:pt x="0" y="5229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950995" y="-1286747"/>
            <a:ext cx="6598076" cy="4114800"/>
          </a:xfrm>
          <a:custGeom>
            <a:avLst/>
            <a:gdLst/>
            <a:ahLst/>
            <a:cxnLst/>
            <a:rect r="r" b="b" t="t" l="l"/>
            <a:pathLst>
              <a:path h="4114800" w="6598076">
                <a:moveTo>
                  <a:pt x="0" y="0"/>
                </a:moveTo>
                <a:lnTo>
                  <a:pt x="6598075" y="0"/>
                </a:lnTo>
                <a:lnTo>
                  <a:pt x="659807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304253" y="-879360"/>
            <a:ext cx="6636774" cy="4114800"/>
          </a:xfrm>
          <a:custGeom>
            <a:avLst/>
            <a:gdLst/>
            <a:ahLst/>
            <a:cxnLst/>
            <a:rect r="r" b="b" t="t" l="l"/>
            <a:pathLst>
              <a:path h="4114800" w="6636774">
                <a:moveTo>
                  <a:pt x="0" y="0"/>
                </a:moveTo>
                <a:lnTo>
                  <a:pt x="6636774" y="0"/>
                </a:lnTo>
                <a:lnTo>
                  <a:pt x="663677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70687" y="9084064"/>
            <a:ext cx="6234545" cy="4114800"/>
          </a:xfrm>
          <a:custGeom>
            <a:avLst/>
            <a:gdLst/>
            <a:ahLst/>
            <a:cxnLst/>
            <a:rect r="r" b="b" t="t" l="l"/>
            <a:pathLst>
              <a:path h="4114800" w="6234545">
                <a:moveTo>
                  <a:pt x="0" y="0"/>
                </a:moveTo>
                <a:lnTo>
                  <a:pt x="6234546" y="0"/>
                </a:lnTo>
                <a:lnTo>
                  <a:pt x="6234546" y="4114800"/>
                </a:lnTo>
                <a:lnTo>
                  <a:pt x="0" y="4114800"/>
                </a:lnTo>
                <a:lnTo>
                  <a:pt x="0" y="0"/>
                </a:lnTo>
                <a:close/>
              </a:path>
            </a:pathLst>
          </a:custGeom>
          <a:blipFill>
            <a:blip r:embed="rId10">
              <a:alphaModFix amt="1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245030" y="3235440"/>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962153" y="1901539"/>
            <a:ext cx="6796216" cy="4114800"/>
          </a:xfrm>
          <a:custGeom>
            <a:avLst/>
            <a:gdLst/>
            <a:ahLst/>
            <a:cxnLst/>
            <a:rect r="r" b="b" t="t" l="l"/>
            <a:pathLst>
              <a:path h="4114800" w="6796216">
                <a:moveTo>
                  <a:pt x="0" y="0"/>
                </a:moveTo>
                <a:lnTo>
                  <a:pt x="6796217" y="0"/>
                </a:lnTo>
                <a:lnTo>
                  <a:pt x="6796217" y="4114800"/>
                </a:lnTo>
                <a:lnTo>
                  <a:pt x="0" y="4114800"/>
                </a:lnTo>
                <a:lnTo>
                  <a:pt x="0" y="0"/>
                </a:lnTo>
                <a:close/>
              </a:path>
            </a:pathLst>
          </a:custGeom>
          <a:blipFill>
            <a:blip r:embed="rId12">
              <a:alphaModFix amt="27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4659172" y="3111107"/>
            <a:ext cx="8969656" cy="4553852"/>
          </a:xfrm>
          <a:prstGeom prst="rect">
            <a:avLst/>
          </a:prstGeom>
        </p:spPr>
        <p:txBody>
          <a:bodyPr anchor="t" rtlCol="false" tIns="0" lIns="0" bIns="0" rIns="0">
            <a:spAutoFit/>
          </a:bodyPr>
          <a:lstStyle/>
          <a:p>
            <a:pPr algn="ctr">
              <a:lnSpc>
                <a:spcPts val="17426"/>
              </a:lnSpc>
            </a:pPr>
            <a:r>
              <a:rPr lang="en-US" sz="17965">
                <a:solidFill>
                  <a:srgbClr val="464691"/>
                </a:solidFill>
                <a:latin typeface="Gagalin"/>
                <a:ea typeface="Gagalin"/>
                <a:cs typeface="Gagalin"/>
                <a:sym typeface="Gagalin"/>
              </a:rPr>
              <a:t>Thank You</a:t>
            </a:r>
          </a:p>
        </p:txBody>
      </p:sp>
      <p:sp>
        <p:nvSpPr>
          <p:cNvPr name="Freeform 3" id="3"/>
          <p:cNvSpPr/>
          <p:nvPr/>
        </p:nvSpPr>
        <p:spPr>
          <a:xfrm flipH="false" flipV="false" rot="0">
            <a:off x="12894417" y="6014076"/>
            <a:ext cx="6432344" cy="5157570"/>
          </a:xfrm>
          <a:custGeom>
            <a:avLst/>
            <a:gdLst/>
            <a:ahLst/>
            <a:cxnLst/>
            <a:rect r="r" b="b" t="t" l="l"/>
            <a:pathLst>
              <a:path h="5157570" w="6432344">
                <a:moveTo>
                  <a:pt x="0" y="0"/>
                </a:moveTo>
                <a:lnTo>
                  <a:pt x="6432344" y="0"/>
                </a:lnTo>
                <a:lnTo>
                  <a:pt x="6432344" y="5157571"/>
                </a:lnTo>
                <a:lnTo>
                  <a:pt x="0" y="51575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09609" y="7391931"/>
            <a:ext cx="6598076" cy="4114800"/>
          </a:xfrm>
          <a:custGeom>
            <a:avLst/>
            <a:gdLst/>
            <a:ahLst/>
            <a:cxnLst/>
            <a:rect r="r" b="b" t="t" l="l"/>
            <a:pathLst>
              <a:path h="4114800" w="6598076">
                <a:moveTo>
                  <a:pt x="0" y="0"/>
                </a:moveTo>
                <a:lnTo>
                  <a:pt x="6598076" y="0"/>
                </a:lnTo>
                <a:lnTo>
                  <a:pt x="65980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27053" y="0"/>
            <a:ext cx="6755642" cy="4114800"/>
          </a:xfrm>
          <a:custGeom>
            <a:avLst/>
            <a:gdLst/>
            <a:ahLst/>
            <a:cxnLst/>
            <a:rect r="r" b="b" t="t" l="l"/>
            <a:pathLst>
              <a:path h="4114800" w="6755642">
                <a:moveTo>
                  <a:pt x="0" y="0"/>
                </a:moveTo>
                <a:lnTo>
                  <a:pt x="6755641" y="0"/>
                </a:lnTo>
                <a:lnTo>
                  <a:pt x="675564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459442">
            <a:off x="-2758544" y="-900221"/>
            <a:ext cx="7574489" cy="4544693"/>
          </a:xfrm>
          <a:custGeom>
            <a:avLst/>
            <a:gdLst/>
            <a:ahLst/>
            <a:cxnLst/>
            <a:rect r="r" b="b" t="t" l="l"/>
            <a:pathLst>
              <a:path h="4544693" w="7574489">
                <a:moveTo>
                  <a:pt x="0" y="0"/>
                </a:moveTo>
                <a:lnTo>
                  <a:pt x="7574488" y="0"/>
                </a:lnTo>
                <a:lnTo>
                  <a:pt x="7574488" y="4544693"/>
                </a:lnTo>
                <a:lnTo>
                  <a:pt x="0" y="45446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762483" y="-1873145"/>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0">
              <a:alphaModFix amt="2700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6762483" y="7742321"/>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10">
              <a:alphaModFix amt="27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795681" y="4568903"/>
            <a:ext cx="2187497" cy="1642612"/>
          </a:xfrm>
          <a:custGeom>
            <a:avLst/>
            <a:gdLst/>
            <a:ahLst/>
            <a:cxnLst/>
            <a:rect r="r" b="b" t="t" l="l"/>
            <a:pathLst>
              <a:path h="1642612" w="2187497">
                <a:moveTo>
                  <a:pt x="0" y="0"/>
                </a:moveTo>
                <a:lnTo>
                  <a:pt x="2187497" y="0"/>
                </a:lnTo>
                <a:lnTo>
                  <a:pt x="2187497" y="1642612"/>
                </a:lnTo>
                <a:lnTo>
                  <a:pt x="0" y="1642612"/>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5304493" y="4371465"/>
            <a:ext cx="2187497" cy="1642612"/>
          </a:xfrm>
          <a:custGeom>
            <a:avLst/>
            <a:gdLst/>
            <a:ahLst/>
            <a:cxnLst/>
            <a:rect r="r" b="b" t="t" l="l"/>
            <a:pathLst>
              <a:path h="1642612" w="2187497">
                <a:moveTo>
                  <a:pt x="0" y="0"/>
                </a:moveTo>
                <a:lnTo>
                  <a:pt x="2187498" y="0"/>
                </a:lnTo>
                <a:lnTo>
                  <a:pt x="2187498" y="1642611"/>
                </a:lnTo>
                <a:lnTo>
                  <a:pt x="0" y="1642611"/>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DAHRA9gJdFI</dc:identifier>
  <dcterms:modified xsi:type="dcterms:W3CDTF">2011-08-01T06:04:30Z</dcterms:modified>
  <cp:revision>1</cp:revision>
  <dc:title>DSA-3 pROJEct</dc:title>
</cp:coreProperties>
</file>